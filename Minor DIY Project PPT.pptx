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5033" autoAdjust="0"/>
  </p:normalViewPr>
  <p:slideViewPr>
    <p:cSldViewPr snapToGrid="0">
      <p:cViewPr varScale="1">
        <p:scale>
          <a:sx n="95" d="100"/>
          <a:sy n="95" d="100"/>
        </p:scale>
        <p:origin x="115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github.com/atharvadeshpande547-hub/car-dekho-data-analysis/tree/mai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atharvadeshpande547-hub/car-dekho-data-analysis/tree/main" TargetMode="External"/><Relationship Id="rId5" Type="http://schemas.openxmlformats.org/officeDocument/2006/relationships/hyperlink" Target="abc" TargetMode="Externa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atharvadeshpande547-hub/car-dekho-data-analysis/tree/main" TargetMode="External"/><Relationship Id="rId5" Type="http://schemas.openxmlformats.org/officeDocument/2006/relationships/hyperlink" Target="abc" TargetMode="Externa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atharvadeshpande547-hub/car-dekho-data-analysis/tree/main" TargetMode="External"/><Relationship Id="rId5" Type="http://schemas.openxmlformats.org/officeDocument/2006/relationships/hyperlink" Target="abc" TargetMode="Externa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github.com/atharvadeshpande547-hub/car-dekho-data-analysis/tree/main" TargetMode="External"/><Relationship Id="rId5" Type="http://schemas.openxmlformats.org/officeDocument/2006/relationships/hyperlink" Target="abc" TargetMode="Externa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08" y="3065669"/>
            <a:ext cx="4996543" cy="363331"/>
          </a:xfrm>
        </p:spPr>
        <p:txBody>
          <a:bodyPr>
            <a:noAutofit/>
          </a:bodyPr>
          <a:lstStyle/>
          <a:p>
            <a:pPr algn="ctr"/>
            <a:r>
              <a:rPr lang="en-US" sz="1800" b="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Exploratory Data Analysis &amp; Data Preprocessing</a:t>
            </a:r>
            <a:endParaRPr lang="en-US" sz="1800" b="0" dirty="0"/>
          </a:p>
          <a:p>
            <a:pPr algn="ctr"/>
            <a:endParaRPr lang="en-IN" sz="1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515" y="1986278"/>
            <a:ext cx="5274128" cy="1109823"/>
          </a:xfrm>
        </p:spPr>
        <p:txBody>
          <a:bodyPr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 DEKHO DATA ANALYSIS</a:t>
            </a:r>
            <a:endParaRPr lang="en-US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9A3786-9C3A-ACFA-E09F-3B3F7DE9FD0A}"/>
              </a:ext>
            </a:extLst>
          </p:cNvPr>
          <p:cNvCxnSpPr>
            <a:cxnSpLocks/>
          </p:cNvCxnSpPr>
          <p:nvPr/>
        </p:nvCxnSpPr>
        <p:spPr>
          <a:xfrm>
            <a:off x="5923099" y="3837214"/>
            <a:ext cx="364544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3">
            <a:extLst>
              <a:ext uri="{FF2B5EF4-FFF2-40B4-BE49-F238E27FC236}">
                <a16:creationId xmlns:a16="http://schemas.microsoft.com/office/drawing/2014/main" id="{87403877-C248-7C25-2659-D845A59B61AB}"/>
              </a:ext>
            </a:extLst>
          </p:cNvPr>
          <p:cNvSpPr/>
          <p:nvPr/>
        </p:nvSpPr>
        <p:spPr>
          <a:xfrm>
            <a:off x="5419904" y="3928437"/>
            <a:ext cx="4651834" cy="534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Done By : Atharva Abhay Deshpande </a:t>
            </a:r>
          </a:p>
          <a:p>
            <a:pPr algn="ctr"/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</a:rPr>
              <a:t>AICTE ID : </a:t>
            </a:r>
            <a:r>
              <a:rPr lang="en-IN" sz="1300" b="1" dirty="0">
                <a:solidFill>
                  <a:srgbClr val="383838"/>
                </a:solidFill>
                <a:latin typeface="DM Sans Bold" pitchFamily="34" charset="0"/>
              </a:rPr>
              <a:t>STU6a5e292a5d1bd1784555818</a:t>
            </a:r>
            <a:endParaRPr lang="en-US" sz="1300" b="1" dirty="0">
              <a:solidFill>
                <a:srgbClr val="383838"/>
              </a:solidFill>
              <a:latin typeface="DM Sans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726" y="2274018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5" name="Text 5">
            <a:extLst>
              <a:ext uri="{FF2B5EF4-FFF2-40B4-BE49-F238E27FC236}">
                <a16:creationId xmlns:a16="http://schemas.microsoft.com/office/drawing/2014/main" id="{4198DDD4-F92D-8BBC-2F9D-AC9ED6953124}"/>
              </a:ext>
            </a:extLst>
          </p:cNvPr>
          <p:cNvSpPr/>
          <p:nvPr/>
        </p:nvSpPr>
        <p:spPr>
          <a:xfrm>
            <a:off x="892195" y="1506600"/>
            <a:ext cx="5703745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Used-car prices depend on several vehicle characteristics. Understanding which factors meaningfully influence resale value is non-trivial without structured analysis.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Key variables under investigation:</a:t>
            </a:r>
            <a:endParaRPr lang="en-US" sz="13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5BBCBC7C-1B3D-B265-FAD8-CFFE4C4EA74E}"/>
              </a:ext>
            </a:extLst>
          </p:cNvPr>
          <p:cNvSpPr/>
          <p:nvPr/>
        </p:nvSpPr>
        <p:spPr>
          <a:xfrm>
            <a:off x="1028553" y="2674224"/>
            <a:ext cx="5703745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Vehicle age (model year)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Present showroom price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Kilometers driven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Fuel type &amp; transmission</a:t>
            </a:r>
            <a:endParaRPr lang="en-US" sz="13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9C584925-0FED-7BF9-3FFF-4B93F9AE2668}"/>
              </a:ext>
            </a:extLst>
          </p:cNvPr>
          <p:cNvSpPr/>
          <p:nvPr/>
        </p:nvSpPr>
        <p:spPr>
          <a:xfrm>
            <a:off x="892194" y="4135297"/>
            <a:ext cx="4834837" cy="1463397"/>
          </a:xfrm>
          <a:prstGeom prst="roundRect">
            <a:avLst>
              <a:gd name="adj" fmla="val 2113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41C305EF-3BDF-DBFE-B31D-0D0F65D98F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7490" y="4381360"/>
            <a:ext cx="206667" cy="1652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33" name="Text 10">
            <a:extLst>
              <a:ext uri="{FF2B5EF4-FFF2-40B4-BE49-F238E27FC236}">
                <a16:creationId xmlns:a16="http://schemas.microsoft.com/office/drawing/2014/main" id="{3FCEA959-0705-A892-8ADE-86369515D0E8}"/>
              </a:ext>
            </a:extLst>
          </p:cNvPr>
          <p:cNvSpPr/>
          <p:nvPr/>
        </p:nvSpPr>
        <p:spPr>
          <a:xfrm>
            <a:off x="1429452" y="4325401"/>
            <a:ext cx="3966468" cy="7938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sz="1200" dirty="0">
                <a:solidFill>
                  <a:srgbClr val="000000"/>
                </a:solidFill>
                <a:latin typeface="DM Sans" pitchFamily="34" charset="0"/>
              </a:rPr>
              <a:t>Used-car selling prices vary depending on factors such as vehicle age, present price, </a:t>
            </a:r>
            <a:r>
              <a:rPr lang="en-IN" sz="1200" dirty="0" err="1">
                <a:solidFill>
                  <a:srgbClr val="000000"/>
                </a:solidFill>
                <a:latin typeface="DM Sans" pitchFamily="34" charset="0"/>
              </a:rPr>
              <a:t>kilometers</a:t>
            </a:r>
            <a:r>
              <a:rPr lang="en-IN" sz="1200" dirty="0">
                <a:solidFill>
                  <a:srgbClr val="000000"/>
                </a:solidFill>
                <a:latin typeface="DM Sans" pitchFamily="34" charset="0"/>
              </a:rPr>
              <a:t> driven, fuel type, and transmission. This project aims to </a:t>
            </a:r>
            <a:r>
              <a:rPr lang="en-IN" sz="1200" dirty="0" err="1">
                <a:solidFill>
                  <a:srgbClr val="000000"/>
                </a:solidFill>
                <a:latin typeface="DM Sans" pitchFamily="34" charset="0"/>
              </a:rPr>
              <a:t>analyze</a:t>
            </a:r>
            <a:r>
              <a:rPr lang="en-IN" sz="1200" dirty="0">
                <a:solidFill>
                  <a:srgbClr val="000000"/>
                </a:solidFill>
                <a:latin typeface="DM Sans" pitchFamily="34" charset="0"/>
              </a:rPr>
              <a:t> Car Dekho data to understand these relationships and derive meaningful insights that can help understand used-car pricing.</a:t>
            </a:r>
            <a:endParaRPr lang="en-US" sz="1200" dirty="0">
              <a:solidFill>
                <a:srgbClr val="000000"/>
              </a:solidFill>
              <a:latin typeface="DM San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5" grpId="0" animBg="1"/>
      <p:bldP spid="27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1B8D602F-BABC-E57E-2A8C-F2759BCF5FF4}"/>
              </a:ext>
            </a:extLst>
          </p:cNvPr>
          <p:cNvSpPr/>
          <p:nvPr/>
        </p:nvSpPr>
        <p:spPr>
          <a:xfrm>
            <a:off x="236360" y="1559891"/>
            <a:ext cx="3205558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at a Glance</a:t>
            </a:r>
            <a:endParaRPr lang="en-US" sz="15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F3B7144-C0E2-E0DD-A4F4-EECEF384B8AF}"/>
              </a:ext>
            </a:extLst>
          </p:cNvPr>
          <p:cNvSpPr/>
          <p:nvPr/>
        </p:nvSpPr>
        <p:spPr>
          <a:xfrm>
            <a:off x="236360" y="1883537"/>
            <a:ext cx="3205558" cy="7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950"/>
              </a:spcAft>
              <a:buNone/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Source: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Car Dekho Used-Car Dataset</a:t>
            </a:r>
            <a:endParaRPr lang="en-US" sz="1200" dirty="0"/>
          </a:p>
          <a:p>
            <a:pPr marL="0" indent="0" algn="l">
              <a:lnSpc>
                <a:spcPct val="128000"/>
              </a:lnSpc>
              <a:spcAft>
                <a:spcPts val="950"/>
              </a:spcAft>
              <a:buNone/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Size: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301 rows × 9 columns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Type: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Structured tabular data</a:t>
            </a:r>
            <a:endParaRPr lang="en-US" sz="12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8F73B9A-35C4-F81E-E11C-A6A01282ED7B}"/>
              </a:ext>
            </a:extLst>
          </p:cNvPr>
          <p:cNvSpPr/>
          <p:nvPr/>
        </p:nvSpPr>
        <p:spPr>
          <a:xfrm>
            <a:off x="236360" y="2838444"/>
            <a:ext cx="3205558" cy="15784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48536EA-C4F0-6FD4-CEBB-C59D9A699F04}"/>
              </a:ext>
            </a:extLst>
          </p:cNvPr>
          <p:cNvSpPr/>
          <p:nvPr/>
        </p:nvSpPr>
        <p:spPr>
          <a:xfrm>
            <a:off x="236360" y="3016749"/>
            <a:ext cx="3205558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9 Dataset Columns</a:t>
            </a:r>
            <a:endParaRPr lang="en-US" sz="155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6456BF7-15D6-C092-480B-8AC7AA2AFE94}"/>
              </a:ext>
            </a:extLst>
          </p:cNvPr>
          <p:cNvSpPr/>
          <p:nvPr/>
        </p:nvSpPr>
        <p:spPr>
          <a:xfrm>
            <a:off x="236360" y="3340395"/>
            <a:ext cx="3205558" cy="2073816"/>
          </a:xfrm>
          <a:prstGeom prst="rect">
            <a:avLst/>
          </a:prstGeom>
          <a:noFill/>
          <a:ln/>
        </p:spPr>
        <p:txBody>
          <a:bodyPr wrap="square" lIns="0" tIns="60988" rIns="0" bIns="0" rtlCol="0" anchor="t">
            <a:normAutofit lnSpcReduction="10000"/>
          </a:bodyPr>
          <a:lstStyle/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 Name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Year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Selling Price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 Price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Kms Driven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Fuel Type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Seller Type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Transmission</a:t>
            </a:r>
            <a:endParaRPr lang="en-US" sz="1200" dirty="0"/>
          </a:p>
          <a:p>
            <a:pPr marL="243840" indent="-24384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BEC47E1D-2562-4819-CAFC-5C909D05316E}"/>
              </a:ext>
            </a:extLst>
          </p:cNvPr>
          <p:cNvSpPr/>
          <p:nvPr/>
        </p:nvSpPr>
        <p:spPr>
          <a:xfrm>
            <a:off x="3608447" y="1567912"/>
            <a:ext cx="5423260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Project Workflow</a:t>
            </a:r>
            <a:endParaRPr lang="en-US" sz="155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2795CB1F-9416-C72F-4A50-FF69FA016493}"/>
              </a:ext>
            </a:extLst>
          </p:cNvPr>
          <p:cNvSpPr/>
          <p:nvPr/>
        </p:nvSpPr>
        <p:spPr>
          <a:xfrm>
            <a:off x="3608447" y="1906108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D154AC7-5E30-CA5C-0043-80565DC8E75B}"/>
              </a:ext>
            </a:extLst>
          </p:cNvPr>
          <p:cNvSpPr/>
          <p:nvPr/>
        </p:nvSpPr>
        <p:spPr>
          <a:xfrm>
            <a:off x="3650695" y="1923823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85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D70F42A0-371A-1AC8-9395-9B44893D87BB}"/>
              </a:ext>
            </a:extLst>
          </p:cNvPr>
          <p:cNvSpPr/>
          <p:nvPr/>
        </p:nvSpPr>
        <p:spPr>
          <a:xfrm>
            <a:off x="4005890" y="1949513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Load &amp; Understand</a:t>
            </a:r>
            <a:endParaRPr lang="en-US" sz="155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5714CA3-AE7F-B02D-B45B-B8E40813BECE}"/>
              </a:ext>
            </a:extLst>
          </p:cNvPr>
          <p:cNvSpPr/>
          <p:nvPr/>
        </p:nvSpPr>
        <p:spPr>
          <a:xfrm>
            <a:off x="4005890" y="2273159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and load the dataset; inspect structure, data types, and statistical summary</a:t>
            </a:r>
            <a:endParaRPr lang="en-US" sz="12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B66923D3-7086-5981-9117-44B611D72D7B}"/>
              </a:ext>
            </a:extLst>
          </p:cNvPr>
          <p:cNvSpPr/>
          <p:nvPr/>
        </p:nvSpPr>
        <p:spPr>
          <a:xfrm>
            <a:off x="3608447" y="2700302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75BC7F2D-5ED6-698A-DA88-C371CC17CB62}"/>
              </a:ext>
            </a:extLst>
          </p:cNvPr>
          <p:cNvSpPr/>
          <p:nvPr/>
        </p:nvSpPr>
        <p:spPr>
          <a:xfrm>
            <a:off x="3650695" y="2718018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85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418BB041-45BC-E698-3E2B-DAD2462C83CE}"/>
              </a:ext>
            </a:extLst>
          </p:cNvPr>
          <p:cNvSpPr/>
          <p:nvPr/>
        </p:nvSpPr>
        <p:spPr>
          <a:xfrm>
            <a:off x="4005890" y="2743707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Quality Checks</a:t>
            </a:r>
            <a:endParaRPr lang="en-US" sz="1550" dirty="0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C64C5AC8-F937-0F56-CD84-1A7FA129E9EF}"/>
              </a:ext>
            </a:extLst>
          </p:cNvPr>
          <p:cNvSpPr/>
          <p:nvPr/>
        </p:nvSpPr>
        <p:spPr>
          <a:xfrm>
            <a:off x="4005890" y="3067353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for missing values, duplicate records, and inconsistencies</a:t>
            </a:r>
            <a:endParaRPr lang="en-US" sz="120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E24CCB64-BBD1-7F52-6653-FE8162028776}"/>
              </a:ext>
            </a:extLst>
          </p:cNvPr>
          <p:cNvSpPr/>
          <p:nvPr/>
        </p:nvSpPr>
        <p:spPr>
          <a:xfrm>
            <a:off x="3608447" y="3494496"/>
            <a:ext cx="281954" cy="284187"/>
          </a:xfrm>
          <a:prstGeom prst="roundRect">
            <a:avLst>
              <a:gd name="adj" fmla="val 6668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1EB9B357-3BD1-B1A5-3A4A-94EB492A2E2B}"/>
              </a:ext>
            </a:extLst>
          </p:cNvPr>
          <p:cNvSpPr/>
          <p:nvPr/>
        </p:nvSpPr>
        <p:spPr>
          <a:xfrm>
            <a:off x="3650695" y="3512212"/>
            <a:ext cx="197375" cy="2486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85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CB9B5CAD-B421-2C61-AC4F-2ACB919EC0F0}"/>
              </a:ext>
            </a:extLst>
          </p:cNvPr>
          <p:cNvSpPr/>
          <p:nvPr/>
        </p:nvSpPr>
        <p:spPr>
          <a:xfrm>
            <a:off x="4005890" y="3537901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Outlier Handling</a:t>
            </a:r>
            <a:endParaRPr lang="en-US" sz="155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5FE393F3-E7CA-598F-A684-D35F03CED9AD}"/>
              </a:ext>
            </a:extLst>
          </p:cNvPr>
          <p:cNvSpPr/>
          <p:nvPr/>
        </p:nvSpPr>
        <p:spPr>
          <a:xfrm>
            <a:off x="4005890" y="3861547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outliers using boxplots for Selling Price, Present Price, and Kms Driven</a:t>
            </a:r>
            <a:endParaRPr lang="en-US" sz="12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526E0FCB-BDAB-9630-D622-A4D43ADA8151}"/>
              </a:ext>
            </a:extLst>
          </p:cNvPr>
          <p:cNvSpPr/>
          <p:nvPr/>
        </p:nvSpPr>
        <p:spPr>
          <a:xfrm>
            <a:off x="3608447" y="4288691"/>
            <a:ext cx="281954" cy="28418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F4A0E1AB-5545-C6DF-B6A9-C9372962CB0D}"/>
              </a:ext>
            </a:extLst>
          </p:cNvPr>
          <p:cNvSpPr/>
          <p:nvPr/>
        </p:nvSpPr>
        <p:spPr>
          <a:xfrm>
            <a:off x="3650695" y="4306406"/>
            <a:ext cx="197375" cy="2486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8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F5C7DD4E-DD48-1B44-3B79-CDD8C5DFFB0D}"/>
              </a:ext>
            </a:extLst>
          </p:cNvPr>
          <p:cNvSpPr/>
          <p:nvPr/>
        </p:nvSpPr>
        <p:spPr>
          <a:xfrm>
            <a:off x="4005890" y="4332095"/>
            <a:ext cx="5025817" cy="207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EDA &amp; Insights</a:t>
            </a:r>
            <a:endParaRPr lang="en-US" sz="15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2F15E631-3D1D-D966-786A-E6B408E62017}"/>
              </a:ext>
            </a:extLst>
          </p:cNvPr>
          <p:cNvSpPr/>
          <p:nvPr/>
        </p:nvSpPr>
        <p:spPr>
          <a:xfrm>
            <a:off x="4005890" y="4655741"/>
            <a:ext cx="5025817" cy="194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 exploratory analysis and derive meaningful, evidence-based findings</a:t>
            </a:r>
            <a:endParaRPr lang="en-US" sz="1200" dirty="0"/>
          </a:p>
        </p:txBody>
      </p:sp>
      <p:sp>
        <p:nvSpPr>
          <p:cNvPr id="52" name="Title 3">
            <a:extLst>
              <a:ext uri="{FF2B5EF4-FFF2-40B4-BE49-F238E27FC236}">
                <a16:creationId xmlns:a16="http://schemas.microsoft.com/office/drawing/2014/main" id="{CE9CD6BE-5D01-031B-748A-ACCF332E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60" y="493485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DESCRIPTION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16" grpId="0" animBg="1"/>
      <p:bldP spid="18" grpId="0" animBg="1"/>
      <p:bldP spid="22" grpId="0" animBg="1"/>
      <p:bldP spid="24" grpId="0" animBg="1"/>
      <p:bldP spid="26" grpId="0" animBg="1"/>
      <p:bldP spid="30" grpId="0" animBg="1"/>
      <p:bldP spid="32" grpId="0" animBg="1"/>
      <p:bldP spid="34" grpId="0" animBg="1"/>
      <p:bldP spid="38" grpId="0" animBg="1"/>
      <p:bldP spid="40" grpId="0" animBg="1"/>
      <p:bldP spid="42" grpId="0" animBg="1"/>
      <p:bldP spid="46" grpId="0" animBg="1"/>
      <p:bldP spid="48" grpId="0" animBg="1"/>
      <p:bldP spid="50" grpId="0" animBg="1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96" y="814486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5A53613E-8424-E7E6-E004-8A364AF1B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465" y="2192605"/>
            <a:ext cx="355007" cy="40511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C6A11EEA-F450-EE4D-5033-A47AA600A236}"/>
              </a:ext>
            </a:extLst>
          </p:cNvPr>
          <p:cNvSpPr/>
          <p:nvPr/>
        </p:nvSpPr>
        <p:spPr>
          <a:xfrm>
            <a:off x="276465" y="2800220"/>
            <a:ext cx="2992555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 Buyers</a:t>
            </a:r>
            <a:endParaRPr lang="en-US" sz="17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2FD95C69-ACA3-1FB3-310D-142A8B48F1CC}"/>
              </a:ext>
            </a:extLst>
          </p:cNvPr>
          <p:cNvSpPr/>
          <p:nvPr/>
        </p:nvSpPr>
        <p:spPr>
          <a:xfrm>
            <a:off x="276465" y="3163331"/>
            <a:ext cx="2992555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understand factors that influence used-car prices and compare vehicle characteristics before purchasing.</a:t>
            </a:r>
            <a:endParaRPr lang="en-US" sz="13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770FB3D3-05BA-18F7-A2E5-A5A5D6E112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481" y="2192605"/>
            <a:ext cx="355007" cy="405110"/>
          </a:xfrm>
          <a:prstGeom prst="rect">
            <a:avLst/>
          </a:prstGeom>
        </p:spPr>
      </p:pic>
      <p:sp>
        <p:nvSpPr>
          <p:cNvPr id="16" name="Text 5">
            <a:extLst>
              <a:ext uri="{FF2B5EF4-FFF2-40B4-BE49-F238E27FC236}">
                <a16:creationId xmlns:a16="http://schemas.microsoft.com/office/drawing/2014/main" id="{92BA7D12-1F79-977C-E024-55D944A75ABF}"/>
              </a:ext>
            </a:extLst>
          </p:cNvPr>
          <p:cNvSpPr/>
          <p:nvPr/>
        </p:nvSpPr>
        <p:spPr>
          <a:xfrm>
            <a:off x="3446481" y="2800220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 Sellers / Owners</a:t>
            </a:r>
            <a:endParaRPr lang="en-US" sz="17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82E3936-8197-31DB-6EF6-F62C998F4AC1}"/>
              </a:ext>
            </a:extLst>
          </p:cNvPr>
          <p:cNvSpPr/>
          <p:nvPr/>
        </p:nvSpPr>
        <p:spPr>
          <a:xfrm>
            <a:off x="3446481" y="3163331"/>
            <a:ext cx="2992640" cy="1037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understand how factors such as car age, present price, fuel type and transmission relate to selling price, and get a better idea of resale value.</a:t>
            </a:r>
            <a:endParaRPr lang="en-US" sz="13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A399DCD8-76EB-CD4D-699C-35C4C70EA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6582" y="2192605"/>
            <a:ext cx="355007" cy="40511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D4FC6398-43D5-8CE7-13D2-10EC902A0AF8}"/>
              </a:ext>
            </a:extLst>
          </p:cNvPr>
          <p:cNvSpPr/>
          <p:nvPr/>
        </p:nvSpPr>
        <p:spPr>
          <a:xfrm>
            <a:off x="6616582" y="2800220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Car Dealers</a:t>
            </a:r>
            <a:endParaRPr lang="en-US" sz="17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987F685-CFE1-EF54-2B1A-BC995FAA7CE7}"/>
              </a:ext>
            </a:extLst>
          </p:cNvPr>
          <p:cNvSpPr/>
          <p:nvPr/>
        </p:nvSpPr>
        <p:spPr>
          <a:xfrm>
            <a:off x="6616582" y="3163331"/>
            <a:ext cx="2992640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use the observed pricing patterns to support used-car evaluation and pricing decisions.</a:t>
            </a:r>
            <a:endParaRPr lang="en-US" sz="1300" dirty="0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EE2DBD72-E86F-7138-5E93-E1609DE2B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6712" y="4556570"/>
            <a:ext cx="355007" cy="405110"/>
          </a:xfrm>
          <a:prstGeom prst="rect">
            <a:avLst/>
          </a:prstGeom>
        </p:spPr>
      </p:pic>
      <p:sp>
        <p:nvSpPr>
          <p:cNvPr id="28" name="Text 9">
            <a:extLst>
              <a:ext uri="{FF2B5EF4-FFF2-40B4-BE49-F238E27FC236}">
                <a16:creationId xmlns:a16="http://schemas.microsoft.com/office/drawing/2014/main" id="{48BC05B0-DB1C-BB62-F798-E0D6F2E34A50}"/>
              </a:ext>
            </a:extLst>
          </p:cNvPr>
          <p:cNvSpPr/>
          <p:nvPr/>
        </p:nvSpPr>
        <p:spPr>
          <a:xfrm>
            <a:off x="1896712" y="5164185"/>
            <a:ext cx="2992555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Used-Car Market Analysts</a:t>
            </a:r>
            <a:endParaRPr lang="en-US" sz="17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07F82808-222C-F080-297E-27B22006DDC6}"/>
              </a:ext>
            </a:extLst>
          </p:cNvPr>
          <p:cNvSpPr/>
          <p:nvPr/>
        </p:nvSpPr>
        <p:spPr>
          <a:xfrm>
            <a:off x="1896712" y="5527296"/>
            <a:ext cx="2992555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use the analyzed data to understand trends and relationships in the used-car market.</a:t>
            </a:r>
            <a:endParaRPr lang="en-US" sz="1300" dirty="0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7712766F-D1A2-1C45-2612-D08994484D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66728" y="4556570"/>
            <a:ext cx="355007" cy="405110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CD768B7A-CC2F-4CCE-D956-B526A61C961D}"/>
              </a:ext>
            </a:extLst>
          </p:cNvPr>
          <p:cNvSpPr/>
          <p:nvPr/>
        </p:nvSpPr>
        <p:spPr>
          <a:xfrm>
            <a:off x="5066728" y="5164185"/>
            <a:ext cx="2992640" cy="265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Analysts / Students</a:t>
            </a:r>
            <a:endParaRPr lang="en-US" sz="17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34267C89-3069-EF74-57BA-ABF3C2E574FB}"/>
              </a:ext>
            </a:extLst>
          </p:cNvPr>
          <p:cNvSpPr/>
          <p:nvPr/>
        </p:nvSpPr>
        <p:spPr>
          <a:xfrm>
            <a:off x="5066728" y="5527296"/>
            <a:ext cx="2992640" cy="77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use the project as an example of data cleaning, exploratory data analysis and visualization.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 animBg="1"/>
      <p:bldP spid="12" grpId="0" animBg="1"/>
      <p:bldP spid="16" grpId="0" animBg="1"/>
      <p:bldP spid="18" grpId="0" animBg="1"/>
      <p:bldP spid="22" grpId="0" animBg="1"/>
      <p:bldP spid="24" grpId="0" animBg="1"/>
      <p:bldP spid="28" grpId="0" animBg="1"/>
      <p:bldP spid="30" grpId="0" animBg="1"/>
      <p:bldP spid="34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6" y="630008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29B77A9-C0A8-66A7-E034-58B1078DE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4486" y="1910586"/>
            <a:ext cx="372498" cy="390411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32E4C139-8C1D-5C94-EFDA-C75CDC585833}"/>
              </a:ext>
            </a:extLst>
          </p:cNvPr>
          <p:cNvSpPr/>
          <p:nvPr/>
        </p:nvSpPr>
        <p:spPr>
          <a:xfrm>
            <a:off x="284486" y="2496156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</a:t>
            </a:r>
            <a:endParaRPr lang="en-US" sz="17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89DBACD-2C23-1542-0966-38837540649B}"/>
              </a:ext>
            </a:extLst>
          </p:cNvPr>
          <p:cNvSpPr/>
          <p:nvPr/>
        </p:nvSpPr>
        <p:spPr>
          <a:xfrm>
            <a:off x="284486" y="2846092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programming language for all data loading, manipulation, analysis, and scripting tasks throughout the project.</a:t>
            </a:r>
            <a:endParaRPr lang="en-US" sz="13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927E7E1-789F-6E45-FA90-1566A5FD5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3837" y="1910586"/>
            <a:ext cx="372498" cy="390411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3FAFE5AE-573C-02E6-EBCF-974FC46129EB}"/>
              </a:ext>
            </a:extLst>
          </p:cNvPr>
          <p:cNvSpPr/>
          <p:nvPr/>
        </p:nvSpPr>
        <p:spPr>
          <a:xfrm>
            <a:off x="5273837" y="2496156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Pandas &amp; NumPy</a:t>
            </a:r>
            <a:endParaRPr lang="en-US" sz="17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0447210-DC26-F3A2-4947-6A3AD54ACC06}"/>
              </a:ext>
            </a:extLst>
          </p:cNvPr>
          <p:cNvSpPr/>
          <p:nvPr/>
        </p:nvSpPr>
        <p:spPr>
          <a:xfrm>
            <a:off x="5273837" y="2846092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for dataset loading, cleaning, grouping, and aggregation. NumPy for efficient numerical operations and array computations.</a:t>
            </a:r>
            <a:endParaRPr lang="en-US" sz="1300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4779542-2D94-A76E-7176-A348ED0C2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486" y="3722281"/>
            <a:ext cx="372498" cy="390411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253A46FF-8174-7B4A-9EF8-44E2001227C2}"/>
              </a:ext>
            </a:extLst>
          </p:cNvPr>
          <p:cNvSpPr/>
          <p:nvPr/>
        </p:nvSpPr>
        <p:spPr>
          <a:xfrm>
            <a:off x="284486" y="4307851"/>
            <a:ext cx="480314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Matplotlib &amp; Seaborn</a:t>
            </a:r>
            <a:endParaRPr lang="en-US" sz="17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5A60A113-5572-363D-1498-97ADA952AA17}"/>
              </a:ext>
            </a:extLst>
          </p:cNvPr>
          <p:cNvSpPr/>
          <p:nvPr/>
        </p:nvSpPr>
        <p:spPr>
          <a:xfrm>
            <a:off x="284486" y="4657787"/>
            <a:ext cx="480314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Matplotlib for scatter plots and boxplots; Seaborn for higher-level EDA visualizations and exploratory statistical graphics.</a:t>
            </a:r>
            <a:endParaRPr lang="en-US" sz="1300" dirty="0"/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DBD2CE2C-945F-ECA6-AEBE-F90EFCA59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3837" y="3722281"/>
            <a:ext cx="372498" cy="390411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696BE28A-396C-63E4-8DAF-6529AC876250}"/>
              </a:ext>
            </a:extLst>
          </p:cNvPr>
          <p:cNvSpPr/>
          <p:nvPr/>
        </p:nvSpPr>
        <p:spPr>
          <a:xfrm>
            <a:off x="5273837" y="4307851"/>
            <a:ext cx="4803236" cy="256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Jupyter / Google Colab</a:t>
            </a:r>
            <a:endParaRPr lang="en-US" sz="17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5147C6B9-263F-6E79-84E4-D9515913CC93}"/>
              </a:ext>
            </a:extLst>
          </p:cNvPr>
          <p:cNvSpPr/>
          <p:nvPr/>
        </p:nvSpPr>
        <p:spPr>
          <a:xfrm>
            <a:off x="5273837" y="4657787"/>
            <a:ext cx="4803236" cy="499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notebook environment for writing, executing, and documenting the analysis in a reproducible, step-by-step format.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 animBg="1"/>
      <p:bldP spid="11" grpId="0" animBg="1"/>
      <p:bldP spid="15" grpId="0" animBg="1"/>
      <p:bldP spid="17" grpId="0" animBg="1"/>
      <p:bldP spid="21" grpId="0" animBg="1"/>
      <p:bldP spid="23" grpId="0" animBg="1"/>
      <p:bldP spid="27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01" y="27475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82900" y="6381551"/>
            <a:ext cx="4771416" cy="424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4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E120D743-8396-34D9-C52F-2BDE89B12EBF}"/>
              </a:ext>
            </a:extLst>
          </p:cNvPr>
          <p:cNvSpPr/>
          <p:nvPr/>
        </p:nvSpPr>
        <p:spPr>
          <a:xfrm>
            <a:off x="583101" y="1065651"/>
            <a:ext cx="1086874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Car Year vs Selling Price</a:t>
            </a:r>
            <a:endParaRPr lang="en-US" sz="29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269237B-A1B3-7004-555E-A2FB8D8324E8}"/>
              </a:ext>
            </a:extLst>
          </p:cNvPr>
          <p:cNvSpPr/>
          <p:nvPr/>
        </p:nvSpPr>
        <p:spPr>
          <a:xfrm>
            <a:off x="595190" y="1561009"/>
            <a:ext cx="413950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Observed Trend</a:t>
            </a:r>
            <a:endParaRPr lang="en-US" sz="145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62989CD4-A812-0DDA-2D79-B798A0994907}"/>
              </a:ext>
            </a:extLst>
          </p:cNvPr>
          <p:cNvSpPr/>
          <p:nvPr/>
        </p:nvSpPr>
        <p:spPr>
          <a:xfrm>
            <a:off x="595190" y="1916311"/>
            <a:ext cx="413950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model years 2016–2018, </a:t>
            </a:r>
            <a:r>
              <a:rPr lang="en-US" sz="1100" b="1" dirty="0">
                <a:solidFill>
                  <a:srgbClr val="2B0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average selling price rises consistently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model year increases.</a:t>
            </a:r>
            <a:endParaRPr lang="en-US" sz="11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5B1E7963-0BBF-F76E-1923-492512451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6223"/>
              </p:ext>
            </p:extLst>
          </p:nvPr>
        </p:nvGraphicFramePr>
        <p:xfrm>
          <a:off x="595190" y="2476500"/>
          <a:ext cx="4139502" cy="1501342"/>
        </p:xfrm>
        <a:graphic>
          <a:graphicData uri="http://schemas.openxmlformats.org/drawingml/2006/table">
            <a:tbl>
              <a:tblPr/>
              <a:tblGrid>
                <a:gridCol w="2069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Year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Avg. Price (₹L)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9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2016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5.21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9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2017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6.21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2018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9.25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2133" marR="1421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5">
            <a:extLst>
              <a:ext uri="{FF2B5EF4-FFF2-40B4-BE49-F238E27FC236}">
                <a16:creationId xmlns:a16="http://schemas.microsoft.com/office/drawing/2014/main" id="{6ED0825B-F3E9-C5A7-3301-C6E97DAF9248}"/>
              </a:ext>
            </a:extLst>
          </p:cNvPr>
          <p:cNvSpPr/>
          <p:nvPr/>
        </p:nvSpPr>
        <p:spPr>
          <a:xfrm>
            <a:off x="595190" y="4163417"/>
            <a:ext cx="4139501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F0FCC320-E217-CDAA-8CB8-85126909AC1A}"/>
              </a:ext>
            </a:extLst>
          </p:cNvPr>
          <p:cNvSpPr/>
          <p:nvPr/>
        </p:nvSpPr>
        <p:spPr>
          <a:xfrm>
            <a:off x="595190" y="4355306"/>
            <a:ext cx="413950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853F83D6-F8C3-2EB0-0470-3619B47A65D2}"/>
              </a:ext>
            </a:extLst>
          </p:cNvPr>
          <p:cNvSpPr/>
          <p:nvPr/>
        </p:nvSpPr>
        <p:spPr>
          <a:xfrm>
            <a:off x="595190" y="4710609"/>
            <a:ext cx="4139501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Newer vehicles command higher resale values in the dataset. Model year appears to be a meaningful differentiating variable for selling price.</a:t>
            </a:r>
            <a:endParaRPr lang="en-US" sz="11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A2E713B2-1298-EBA1-5B79-6A73D9678091}"/>
              </a:ext>
            </a:extLst>
          </p:cNvPr>
          <p:cNvSpPr/>
          <p:nvPr/>
        </p:nvSpPr>
        <p:spPr>
          <a:xfrm>
            <a:off x="595190" y="5482233"/>
            <a:ext cx="4139501" cy="713581"/>
          </a:xfrm>
          <a:prstGeom prst="roundRect">
            <a:avLst>
              <a:gd name="adj" fmla="val 2988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1F8574D8-EE60-ACC8-D622-7156168AEC1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7268" y="5667970"/>
            <a:ext cx="177597" cy="142081"/>
          </a:xfrm>
          <a:prstGeom prst="rect">
            <a:avLst/>
          </a:prstGeom>
        </p:spPr>
      </p:pic>
      <p:sp>
        <p:nvSpPr>
          <p:cNvPr id="31" name="Text 9">
            <a:extLst>
              <a:ext uri="{FF2B5EF4-FFF2-40B4-BE49-F238E27FC236}">
                <a16:creationId xmlns:a16="http://schemas.microsoft.com/office/drawing/2014/main" id="{6278FB11-041B-E159-5160-2E1AD9C5CAC7}"/>
              </a:ext>
            </a:extLst>
          </p:cNvPr>
          <p:cNvSpPr/>
          <p:nvPr/>
        </p:nvSpPr>
        <p:spPr>
          <a:xfrm>
            <a:off x="1056942" y="5627588"/>
            <a:ext cx="3535671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Upward trend observed across selected years. No causal inference is drawn.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2D9DEB7-102D-18BB-BEE2-E1F09B06E81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8"/>
          <a:stretch>
            <a:fillRect/>
          </a:stretch>
        </p:blipFill>
        <p:spPr>
          <a:xfrm>
            <a:off x="5008899" y="1651378"/>
            <a:ext cx="7012041" cy="48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1" grpId="0" animBg="1"/>
      <p:bldP spid="15" grpId="0" animBg="1"/>
      <p:bldP spid="17" grpId="0" animBg="1"/>
      <p:bldP spid="23" grpId="0" animBg="1"/>
      <p:bldP spid="25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B89F-E9DD-53FB-1C85-8FC9254B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85D2A-1F66-D02F-58E8-CA65111E5D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F08743-3597-0B9D-E8C8-2E9FDE07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01" y="27475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6A089ED-D20E-9709-949A-4A6E9AD87FA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61D35E36-B329-0DB0-539C-90B29E3F828B}"/>
              </a:ext>
            </a:extLst>
          </p:cNvPr>
          <p:cNvSpPr/>
          <p:nvPr/>
        </p:nvSpPr>
        <p:spPr>
          <a:xfrm>
            <a:off x="605328" y="1092940"/>
            <a:ext cx="10868745" cy="448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Kms Driven vs. Selling Price</a:t>
            </a:r>
            <a:endParaRPr lang="en-US" sz="295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9F63113-9064-75E5-E514-E19B4A6B2EF8}"/>
              </a:ext>
            </a:extLst>
          </p:cNvPr>
          <p:cNvGrpSpPr/>
          <p:nvPr/>
        </p:nvGrpSpPr>
        <p:grpSpPr>
          <a:xfrm>
            <a:off x="6617366" y="200526"/>
            <a:ext cx="5480007" cy="2577387"/>
            <a:chOff x="501151" y="1757706"/>
            <a:chExt cx="4905054" cy="2536592"/>
          </a:xfrm>
        </p:grpSpPr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DC69388D-315D-13E4-B3EB-C1F37BCBC975}"/>
                </a:ext>
              </a:extLst>
            </p:cNvPr>
            <p:cNvSpPr/>
            <p:nvPr/>
          </p:nvSpPr>
          <p:spPr>
            <a:xfrm>
              <a:off x="501151" y="1757706"/>
              <a:ext cx="4905054" cy="2536592"/>
            </a:xfrm>
            <a:prstGeom prst="roundRect">
              <a:avLst>
                <a:gd name="adj" fmla="val 449"/>
              </a:avLst>
            </a:prstGeom>
            <a:solidFill>
              <a:srgbClr val="2B0AFF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8959E6FC-5BD2-4AB8-9366-78F817B11C49}"/>
                </a:ext>
              </a:extLst>
            </p:cNvPr>
            <p:cNvSpPr/>
            <p:nvPr/>
          </p:nvSpPr>
          <p:spPr>
            <a:xfrm>
              <a:off x="645808" y="1884308"/>
              <a:ext cx="4615739" cy="224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FFFFFF"/>
                  </a:solidFill>
                  <a:latin typeface="PT Serif" pitchFamily="34" charset="0"/>
                  <a:ea typeface="PT Serif" pitchFamily="34" charset="-122"/>
                  <a:cs typeface="PT Serif" pitchFamily="34" charset="-120"/>
                </a:rPr>
                <a:t>Correlation Coefficient</a:t>
              </a:r>
              <a:endParaRPr lang="en-US" sz="1450" dirty="0"/>
            </a:p>
          </p:txBody>
        </p:sp>
        <p:sp>
          <p:nvSpPr>
            <p:cNvPr id="16" name="Text 5">
              <a:extLst>
                <a:ext uri="{FF2B5EF4-FFF2-40B4-BE49-F238E27FC236}">
                  <a16:creationId xmlns:a16="http://schemas.microsoft.com/office/drawing/2014/main" id="{4332DC90-E3D6-A232-5189-9DE3C3258A13}"/>
                </a:ext>
              </a:extLst>
            </p:cNvPr>
            <p:cNvSpPr/>
            <p:nvPr/>
          </p:nvSpPr>
          <p:spPr>
            <a:xfrm>
              <a:off x="645808" y="2248243"/>
              <a:ext cx="4615739" cy="3361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dirty="0">
                  <a:solidFill>
                    <a:srgbClr val="FFFFFF"/>
                  </a:solidFill>
                  <a:latin typeface="PT Serif" pitchFamily="34" charset="0"/>
                  <a:ea typeface="PT Serif" pitchFamily="34" charset="-122"/>
                  <a:cs typeface="PT Serif" pitchFamily="34" charset="-120"/>
                </a:rPr>
                <a:t>0.0292</a:t>
              </a:r>
              <a:endParaRPr lang="en-US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6A952EDD-8B76-D196-A1B5-3A1C872538E1}"/>
                </a:ext>
              </a:extLst>
            </p:cNvPr>
            <p:cNvSpPr/>
            <p:nvPr/>
          </p:nvSpPr>
          <p:spPr>
            <a:xfrm>
              <a:off x="629766" y="2546531"/>
              <a:ext cx="3837960" cy="2444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Pearson correlation between Kms Driven and Selling Price</a:t>
              </a:r>
              <a:endParaRPr lang="en-US" sz="1100" dirty="0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58A79214-39F0-D0D7-594C-F822D8F442A4}"/>
                </a:ext>
              </a:extLst>
            </p:cNvPr>
            <p:cNvSpPr/>
            <p:nvPr/>
          </p:nvSpPr>
          <p:spPr>
            <a:xfrm>
              <a:off x="629766" y="2942115"/>
              <a:ext cx="4615739" cy="60082"/>
            </a:xfrm>
            <a:prstGeom prst="roundRect">
              <a:avLst>
                <a:gd name="adj" fmla="val 49999"/>
              </a:avLst>
            </a:prstGeom>
            <a:solidFill>
              <a:srgbClr val="FFFFFF">
                <a:alpha val="50000"/>
              </a:srgbClr>
            </a:solidFill>
            <a:ln/>
          </p:spPr>
        </p:sp>
        <p:sp>
          <p:nvSpPr>
            <p:cNvPr id="28" name="Text 8">
              <a:extLst>
                <a:ext uri="{FF2B5EF4-FFF2-40B4-BE49-F238E27FC236}">
                  <a16:creationId xmlns:a16="http://schemas.microsoft.com/office/drawing/2014/main" id="{81A13AAA-22CD-BB8B-5EB6-35C405DB21EB}"/>
                </a:ext>
              </a:extLst>
            </p:cNvPr>
            <p:cNvSpPr/>
            <p:nvPr/>
          </p:nvSpPr>
          <p:spPr>
            <a:xfrm>
              <a:off x="629766" y="3139660"/>
              <a:ext cx="4615739" cy="2242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dirty="0">
                  <a:solidFill>
                    <a:srgbClr val="FFFFFF"/>
                  </a:solidFill>
                  <a:latin typeface="PT Serif" pitchFamily="34" charset="0"/>
                  <a:ea typeface="PT Serif" pitchFamily="34" charset="-122"/>
                  <a:cs typeface="PT Serif" pitchFamily="34" charset="-120"/>
                </a:rPr>
                <a:t>What This Means</a:t>
              </a:r>
              <a:endParaRPr lang="en-US" sz="1450" dirty="0"/>
            </a:p>
          </p:txBody>
        </p:sp>
        <p:sp>
          <p:nvSpPr>
            <p:cNvPr id="32" name="Text 9">
              <a:extLst>
                <a:ext uri="{FF2B5EF4-FFF2-40B4-BE49-F238E27FC236}">
                  <a16:creationId xmlns:a16="http://schemas.microsoft.com/office/drawing/2014/main" id="{F890534F-F33F-86B0-68FD-ED03DF51F440}"/>
                </a:ext>
              </a:extLst>
            </p:cNvPr>
            <p:cNvSpPr/>
            <p:nvPr/>
          </p:nvSpPr>
          <p:spPr>
            <a:xfrm>
              <a:off x="629766" y="3503595"/>
              <a:ext cx="4615739" cy="6154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A value this close to </a:t>
              </a:r>
              <a:r>
                <a:rPr lang="en-US" sz="1100" b="1" dirty="0">
                  <a:solidFill>
                    <a:srgbClr val="FFFFFF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zero</a:t>
              </a:r>
              <a:r>
                <a:rPr lang="en-US" sz="1100" dirty="0">
                  <a:solidFill>
                    <a:srgbClr val="FFFF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 indicates a </a:t>
              </a:r>
              <a:r>
                <a:rPr lang="en-US" sz="1100" b="1" dirty="0">
                  <a:solidFill>
                    <a:srgbClr val="FFFFFF"/>
                  </a:solidFill>
                  <a:latin typeface="DM Sans Bold" pitchFamily="34" charset="0"/>
                  <a:ea typeface="DM Sans Bold" pitchFamily="34" charset="-122"/>
                  <a:cs typeface="DM Sans Bold" pitchFamily="34" charset="-120"/>
                </a:rPr>
                <a:t>very weak linear relationship</a:t>
              </a:r>
              <a:r>
                <a:rPr lang="en-US" sz="1100" dirty="0">
                  <a:solidFill>
                    <a:srgbClr val="FFFFFF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. Kilometers driven alone does not reliably predict used-car selling price in this dataset.</a:t>
              </a:r>
              <a:endParaRPr lang="en-US" sz="1100" dirty="0"/>
            </a:p>
          </p:txBody>
        </p:sp>
      </p:grpSp>
      <p:sp>
        <p:nvSpPr>
          <p:cNvPr id="35" name="Text 10">
            <a:extLst>
              <a:ext uri="{FF2B5EF4-FFF2-40B4-BE49-F238E27FC236}">
                <a16:creationId xmlns:a16="http://schemas.microsoft.com/office/drawing/2014/main" id="{1FFEFB26-8692-BA5C-E9C1-9BD6124B9547}"/>
              </a:ext>
            </a:extLst>
          </p:cNvPr>
          <p:cNvSpPr/>
          <p:nvPr/>
        </p:nvSpPr>
        <p:spPr>
          <a:xfrm>
            <a:off x="644553" y="1678358"/>
            <a:ext cx="5818935" cy="22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</a:t>
            </a:r>
            <a:endParaRPr lang="en-US" sz="14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A5013031-14C8-7108-9993-1F0BAD48598F}"/>
              </a:ext>
            </a:extLst>
          </p:cNvPr>
          <p:cNvSpPr/>
          <p:nvPr/>
        </p:nvSpPr>
        <p:spPr>
          <a:xfrm>
            <a:off x="644553" y="2042293"/>
            <a:ext cx="5818935" cy="41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near-zero correlation (r = 0.0292) suggests that higher odometer readings do not directly translate to lower selling prices — at least not through a simple linear pattern.</a:t>
            </a:r>
            <a:endParaRPr lang="en-US" sz="1100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0688C979-B18A-C09E-E4A5-CA47E4748F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553" y="2618853"/>
            <a:ext cx="5818935" cy="1063674"/>
          </a:xfrm>
          <a:prstGeom prst="rect">
            <a:avLst/>
          </a:prstGeom>
        </p:spPr>
      </p:pic>
      <p:sp>
        <p:nvSpPr>
          <p:cNvPr id="41" name="Text 12">
            <a:extLst>
              <a:ext uri="{FF2B5EF4-FFF2-40B4-BE49-F238E27FC236}">
                <a16:creationId xmlns:a16="http://schemas.microsoft.com/office/drawing/2014/main" id="{54CCD2EA-B7D6-B36D-F9BA-E2871F315B5E}"/>
              </a:ext>
            </a:extLst>
          </p:cNvPr>
          <p:cNvSpPr/>
          <p:nvPr/>
        </p:nvSpPr>
        <p:spPr>
          <a:xfrm>
            <a:off x="884458" y="2782564"/>
            <a:ext cx="5415323" cy="22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Possible Explanation</a:t>
            </a:r>
            <a:endParaRPr lang="en-US" sz="145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A5BA6EB6-4342-0835-7799-EBDDF0B8B2C4}"/>
              </a:ext>
            </a:extLst>
          </p:cNvPr>
          <p:cNvSpPr/>
          <p:nvPr/>
        </p:nvSpPr>
        <p:spPr>
          <a:xfrm>
            <a:off x="884458" y="3146498"/>
            <a:ext cx="5415323" cy="41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factors — brand, model year, condition, fuel type — may overshadow raw kilometer counts when buyers assess value.</a:t>
            </a:r>
            <a:endParaRPr lang="en-US" sz="1100" dirty="0"/>
          </a:p>
        </p:txBody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0D25B4F3-AEA8-FCE9-C4B5-329FF19FF8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553" y="3870994"/>
            <a:ext cx="5818935" cy="1063674"/>
          </a:xfrm>
          <a:prstGeom prst="rect">
            <a:avLst/>
          </a:prstGeom>
        </p:spPr>
      </p:pic>
      <p:sp>
        <p:nvSpPr>
          <p:cNvPr id="47" name="Text 14">
            <a:extLst>
              <a:ext uri="{FF2B5EF4-FFF2-40B4-BE49-F238E27FC236}">
                <a16:creationId xmlns:a16="http://schemas.microsoft.com/office/drawing/2014/main" id="{FADF5650-2FEB-4054-8B48-DA81C66F2234}"/>
              </a:ext>
            </a:extLst>
          </p:cNvPr>
          <p:cNvSpPr/>
          <p:nvPr/>
        </p:nvSpPr>
        <p:spPr>
          <a:xfrm>
            <a:off x="884458" y="4034705"/>
            <a:ext cx="5415323" cy="22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Analytical Caution</a:t>
            </a:r>
            <a:endParaRPr lang="en-US" sz="145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813B4626-A3FB-3BD7-DE1E-82D7687AABDB}"/>
              </a:ext>
            </a:extLst>
          </p:cNvPr>
          <p:cNvSpPr/>
          <p:nvPr/>
        </p:nvSpPr>
        <p:spPr>
          <a:xfrm>
            <a:off x="884458" y="4398639"/>
            <a:ext cx="5415323" cy="41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 only measures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association. A non-linear relationship may still exist and warrants further investigation.</a:t>
            </a:r>
            <a:endParaRPr lang="en-US" sz="1100" dirty="0"/>
          </a:p>
        </p:txBody>
      </p:sp>
      <p:pic>
        <p:nvPicPr>
          <p:cNvPr id="51" name="Image 2" descr="preencoded.png">
            <a:extLst>
              <a:ext uri="{FF2B5EF4-FFF2-40B4-BE49-F238E27FC236}">
                <a16:creationId xmlns:a16="http://schemas.microsoft.com/office/drawing/2014/main" id="{21E53E23-891E-C45F-CDBC-134238B781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553" y="5123134"/>
            <a:ext cx="5818935" cy="1063674"/>
          </a:xfrm>
          <a:prstGeom prst="rect">
            <a:avLst/>
          </a:prstGeom>
        </p:spPr>
      </p:pic>
      <p:sp>
        <p:nvSpPr>
          <p:cNvPr id="53" name="Text 16">
            <a:extLst>
              <a:ext uri="{FF2B5EF4-FFF2-40B4-BE49-F238E27FC236}">
                <a16:creationId xmlns:a16="http://schemas.microsoft.com/office/drawing/2014/main" id="{E481612C-5C7C-647D-3D2A-667CA78D970D}"/>
              </a:ext>
            </a:extLst>
          </p:cNvPr>
          <p:cNvSpPr/>
          <p:nvPr/>
        </p:nvSpPr>
        <p:spPr>
          <a:xfrm>
            <a:off x="884458" y="5286845"/>
            <a:ext cx="5415323" cy="224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Dataset Range</a:t>
            </a:r>
            <a:endParaRPr lang="en-US" sz="145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7A67DB38-56B0-3742-113D-397354C7C51A}"/>
              </a:ext>
            </a:extLst>
          </p:cNvPr>
          <p:cNvSpPr/>
          <p:nvPr/>
        </p:nvSpPr>
        <p:spPr>
          <a:xfrm>
            <a:off x="884458" y="5650780"/>
            <a:ext cx="5415323" cy="41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Kms Driven ranges from 500 to 500,000 — a very wide spread that may reduce the clarity of linear patterns.</a:t>
            </a:r>
            <a:endParaRPr lang="en-US" sz="110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93F5E24-180C-4903-3BE3-C7CBE07289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4"/>
          <a:stretch>
            <a:fillRect/>
          </a:stretch>
        </p:blipFill>
        <p:spPr>
          <a:xfrm>
            <a:off x="6617367" y="2823674"/>
            <a:ext cx="5480008" cy="3713703"/>
          </a:xfrm>
          <a:prstGeom prst="rect">
            <a:avLst/>
          </a:prstGeom>
        </p:spPr>
      </p:pic>
      <p:sp>
        <p:nvSpPr>
          <p:cNvPr id="65" name="Title 3">
            <a:extLst>
              <a:ext uri="{FF2B5EF4-FFF2-40B4-BE49-F238E27FC236}">
                <a16:creationId xmlns:a16="http://schemas.microsoft.com/office/drawing/2014/main" id="{88C90EA5-5DC0-FD4A-7FEA-E00A79F88F4C}"/>
              </a:ext>
            </a:extLst>
          </p:cNvPr>
          <p:cNvSpPr txBox="1">
            <a:spLocks/>
          </p:cNvSpPr>
          <p:nvPr/>
        </p:nvSpPr>
        <p:spPr>
          <a:xfrm>
            <a:off x="682900" y="6381551"/>
            <a:ext cx="4771416" cy="424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6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11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" grpId="0" animBg="1"/>
      <p:bldP spid="35" grpId="0" animBg="1"/>
      <p:bldP spid="37" grpId="0" animBg="1"/>
      <p:bldP spid="41" grpId="0" animBg="1"/>
      <p:bldP spid="43" grpId="0" animBg="1"/>
      <p:bldP spid="47" grpId="0" animBg="1"/>
      <p:bldP spid="49" grpId="0" animBg="1"/>
      <p:bldP spid="53" grpId="0" animBg="1"/>
      <p:bldP spid="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262C1-67C3-9118-18BB-45851EBD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9EA3E1-5012-62EF-448B-1C81DFA780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D4E6BB1-96CA-AF1F-D41A-3911E5078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01" y="27475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E695236-43C6-B39B-DAC0-6572450DEBFE}"/>
              </a:ext>
            </a:extLst>
          </p:cNvPr>
          <p:cNvSpPr/>
          <p:nvPr/>
        </p:nvSpPr>
        <p:spPr>
          <a:xfrm>
            <a:off x="637412" y="1030454"/>
            <a:ext cx="10868745" cy="4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Fuel Type &amp; Present Price</a:t>
            </a:r>
            <a:endParaRPr lang="en-US" sz="295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901C212F-B719-8F3E-34AF-ABF32C966CDC}"/>
              </a:ext>
            </a:extLst>
          </p:cNvPr>
          <p:cNvSpPr/>
          <p:nvPr/>
        </p:nvSpPr>
        <p:spPr>
          <a:xfrm>
            <a:off x="679586" y="1653381"/>
            <a:ext cx="4696700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Fuel Type Breakdown</a:t>
            </a:r>
            <a:endParaRPr lang="en-US" sz="145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065D694A-A096-0E6E-69AC-588079D0F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68301"/>
              </p:ext>
            </p:extLst>
          </p:nvPr>
        </p:nvGraphicFramePr>
        <p:xfrm>
          <a:off x="679586" y="2033091"/>
          <a:ext cx="4696701" cy="1768829"/>
        </p:xfrm>
        <a:graphic>
          <a:graphicData uri="http://schemas.openxmlformats.org/drawingml/2006/table">
            <a:tbl>
              <a:tblPr/>
              <a:tblGrid>
                <a:gridCol w="156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Fuel Type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Avg. Present Price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Sample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Diesel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₹10.28L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Petrol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₹3.26L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CNG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₹3.10L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0A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n=2 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5">
            <a:extLst>
              <a:ext uri="{FF2B5EF4-FFF2-40B4-BE49-F238E27FC236}">
                <a16:creationId xmlns:a16="http://schemas.microsoft.com/office/drawing/2014/main" id="{41BC590D-47A4-9EC4-7FA9-AEFBF3817974}"/>
              </a:ext>
            </a:extLst>
          </p:cNvPr>
          <p:cNvSpPr/>
          <p:nvPr/>
        </p:nvSpPr>
        <p:spPr>
          <a:xfrm>
            <a:off x="679586" y="3993158"/>
            <a:ext cx="4696700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46567C5B-43E8-14B8-816B-80B72D9534B1}"/>
              </a:ext>
            </a:extLst>
          </p:cNvPr>
          <p:cNvSpPr/>
          <p:nvPr/>
        </p:nvSpPr>
        <p:spPr>
          <a:xfrm>
            <a:off x="679586" y="4190702"/>
            <a:ext cx="4696700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Observation</a:t>
            </a:r>
            <a:endParaRPr lang="en-US" sz="14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3C6B-9E61-CEC7-A3D5-46969600447A}"/>
              </a:ext>
            </a:extLst>
          </p:cNvPr>
          <p:cNvSpPr/>
          <p:nvPr/>
        </p:nvSpPr>
        <p:spPr>
          <a:xfrm>
            <a:off x="679586" y="4554637"/>
            <a:ext cx="469670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Diesel vehicles exhibit significantly higher present prices than Petrol or CNG vehicles in this dataset. </a:t>
            </a:r>
            <a:r>
              <a:rPr lang="en-US" sz="11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Present Price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an important variable for contextualizing Selling Price comparisons across fuel types.</a:t>
            </a:r>
            <a:endParaRPr lang="en-US" sz="11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F30F245B-826F-7A9B-11C0-31A63EA423DC}"/>
              </a:ext>
            </a:extLst>
          </p:cNvPr>
          <p:cNvSpPr/>
          <p:nvPr/>
        </p:nvSpPr>
        <p:spPr>
          <a:xfrm>
            <a:off x="679586" y="5348288"/>
            <a:ext cx="4696700" cy="734219"/>
          </a:xfrm>
          <a:prstGeom prst="roundRect">
            <a:avLst>
              <a:gd name="adj" fmla="val 2957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83854EBF-4ED4-4A5B-A23B-C76459524C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4243" y="5543153"/>
            <a:ext cx="180871" cy="144661"/>
          </a:xfrm>
          <a:prstGeom prst="rect">
            <a:avLst/>
          </a:prstGeom>
        </p:spPr>
      </p:pic>
      <p:sp>
        <p:nvSpPr>
          <p:cNvPr id="36" name="Text 9">
            <a:extLst>
              <a:ext uri="{FF2B5EF4-FFF2-40B4-BE49-F238E27FC236}">
                <a16:creationId xmlns:a16="http://schemas.microsoft.com/office/drawing/2014/main" id="{873C2AEF-AB29-F530-7931-65CAE647E3D9}"/>
              </a:ext>
            </a:extLst>
          </p:cNvPr>
          <p:cNvSpPr/>
          <p:nvPr/>
        </p:nvSpPr>
        <p:spPr>
          <a:xfrm>
            <a:off x="1149772" y="5498306"/>
            <a:ext cx="4081856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CNG: only 2 observations. Do not generalize CNG findings beyond this dataset.</a:t>
            </a:r>
            <a:endParaRPr lang="en-US" sz="11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83D6885-F932-3986-9139-AD51C81DDC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2"/>
          <a:stretch>
            <a:fillRect/>
          </a:stretch>
        </p:blipFill>
        <p:spPr>
          <a:xfrm>
            <a:off x="5520943" y="1505315"/>
            <a:ext cx="6584205" cy="4876237"/>
          </a:xfrm>
          <a:prstGeom prst="rect">
            <a:avLst/>
          </a:prstGeom>
        </p:spPr>
      </p:pic>
      <p:sp>
        <p:nvSpPr>
          <p:cNvPr id="48" name="Title 3">
            <a:extLst>
              <a:ext uri="{FF2B5EF4-FFF2-40B4-BE49-F238E27FC236}">
                <a16:creationId xmlns:a16="http://schemas.microsoft.com/office/drawing/2014/main" id="{4C229D5D-A4BB-36F1-18B6-8752B6264615}"/>
              </a:ext>
            </a:extLst>
          </p:cNvPr>
          <p:cNvSpPr txBox="1">
            <a:spLocks/>
          </p:cNvSpPr>
          <p:nvPr/>
        </p:nvSpPr>
        <p:spPr>
          <a:xfrm>
            <a:off x="682900" y="6381551"/>
            <a:ext cx="4771416" cy="424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6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0744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7" grpId="0" animBg="1"/>
      <p:bldP spid="25" grpId="0" animBg="1"/>
      <p:bldP spid="27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78263-5326-94C7-3825-5036CC67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E645F1-A537-27E9-50B1-AAD02ACB8E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A3DAF11-283A-BC84-43B7-4040AB315E7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18E004A-BEDA-1442-CEA2-DBB8A023F420}"/>
              </a:ext>
            </a:extLst>
          </p:cNvPr>
          <p:cNvSpPr/>
          <p:nvPr/>
        </p:nvSpPr>
        <p:spPr>
          <a:xfrm>
            <a:off x="644461" y="1683544"/>
            <a:ext cx="524526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Findings (Post-Outlier Cleaning)</a:t>
            </a:r>
            <a:endParaRPr lang="en-US" sz="1600" dirty="0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0C97E94B-F525-66A2-7DEF-D110B74EA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658547"/>
              </p:ext>
            </p:extLst>
          </p:nvPr>
        </p:nvGraphicFramePr>
        <p:xfrm>
          <a:off x="644461" y="2101354"/>
          <a:ext cx="5245266" cy="1294972"/>
        </p:xfrm>
        <a:graphic>
          <a:graphicData uri="http://schemas.openxmlformats.org/drawingml/2006/table">
            <a:tbl>
              <a:tblPr/>
              <a:tblGrid>
                <a:gridCol w="17484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4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Avg. Selling Price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Count (n)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Automatic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₹4.3291L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Manual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₹3.7052L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83838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254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5054" marR="15505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Shape 4">
            <a:extLst>
              <a:ext uri="{FF2B5EF4-FFF2-40B4-BE49-F238E27FC236}">
                <a16:creationId xmlns:a16="http://schemas.microsoft.com/office/drawing/2014/main" id="{6FB8B964-FD6A-E7A9-71AE-B74439C2EB04}"/>
              </a:ext>
            </a:extLst>
          </p:cNvPr>
          <p:cNvSpPr/>
          <p:nvPr/>
        </p:nvSpPr>
        <p:spPr>
          <a:xfrm>
            <a:off x="644461" y="3611265"/>
            <a:ext cx="5245266" cy="19050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971E11B-F6A9-51B6-09B0-1829D389942F}"/>
              </a:ext>
            </a:extLst>
          </p:cNvPr>
          <p:cNvSpPr/>
          <p:nvPr/>
        </p:nvSpPr>
        <p:spPr>
          <a:xfrm>
            <a:off x="644461" y="3832523"/>
            <a:ext cx="524526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Interpretation &amp; Limitation</a:t>
            </a:r>
            <a:endParaRPr lang="en-US" sz="16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ACB38B1A-7D59-296B-94C9-16FA3C993115}"/>
              </a:ext>
            </a:extLst>
          </p:cNvPr>
          <p:cNvSpPr/>
          <p:nvPr/>
        </p:nvSpPr>
        <p:spPr>
          <a:xfrm>
            <a:off x="644461" y="4232176"/>
            <a:ext cx="5245266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Automatic vehicles show a </a:t>
            </a:r>
            <a:r>
              <a:rPr lang="en-US" sz="1200" b="1" dirty="0">
                <a:solidFill>
                  <a:srgbClr val="2B0A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higher average selling price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(₹4.33L vs ₹3.71L). However, </a:t>
            </a:r>
            <a:r>
              <a:rPr lang="en-US" sz="12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Manual vehicles dominate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dataset at 254 records versus only 22 Automatic records.</a:t>
            </a:r>
            <a:endParaRPr lang="en-US" sz="12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530F5649-06CE-2B6E-2D68-1645CB816CBD}"/>
              </a:ext>
            </a:extLst>
          </p:cNvPr>
          <p:cNvSpPr/>
          <p:nvPr/>
        </p:nvSpPr>
        <p:spPr>
          <a:xfrm>
            <a:off x="644461" y="5116612"/>
            <a:ext cx="5245266" cy="1059855"/>
          </a:xfrm>
          <a:prstGeom prst="roundRect">
            <a:avLst>
              <a:gd name="adj" fmla="val 2194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EC974015-937C-3B0D-10F1-9EA99B4C4B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9436" y="5330130"/>
            <a:ext cx="193769" cy="154980"/>
          </a:xfrm>
          <a:prstGeom prst="rect">
            <a:avLst/>
          </a:prstGeom>
        </p:spPr>
      </p:pic>
      <p:sp>
        <p:nvSpPr>
          <p:cNvPr id="38" name="Text 8">
            <a:extLst>
              <a:ext uri="{FF2B5EF4-FFF2-40B4-BE49-F238E27FC236}">
                <a16:creationId xmlns:a16="http://schemas.microsoft.com/office/drawing/2014/main" id="{C3C326C5-7CF6-534E-964A-6313858F9C9E}"/>
              </a:ext>
            </a:extLst>
          </p:cNvPr>
          <p:cNvSpPr/>
          <p:nvPr/>
        </p:nvSpPr>
        <p:spPr>
          <a:xfrm>
            <a:off x="1148182" y="5286077"/>
            <a:ext cx="4586570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small Automatic sample (n=22) limits the generalizability of this comparison. The observed difference may not hold in a more balanced dataset.</a:t>
            </a:r>
            <a:endParaRPr lang="en-US" sz="1200" dirty="0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F9F8371-1657-09AA-E66B-5A34C6310BC4}"/>
              </a:ext>
            </a:extLst>
          </p:cNvPr>
          <p:cNvSpPr/>
          <p:nvPr/>
        </p:nvSpPr>
        <p:spPr>
          <a:xfrm>
            <a:off x="644461" y="1029494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Transmission Type vs. Selling Price</a:t>
            </a:r>
            <a:endParaRPr lang="en-US" sz="32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A98DFEB-27D8-5654-B475-53284E337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702" y="1683543"/>
            <a:ext cx="6059066" cy="4698007"/>
          </a:xfrm>
          <a:prstGeom prst="rect">
            <a:avLst/>
          </a:prstGeom>
        </p:spPr>
      </p:pic>
      <p:sp>
        <p:nvSpPr>
          <p:cNvPr id="52" name="Title 3">
            <a:extLst>
              <a:ext uri="{FF2B5EF4-FFF2-40B4-BE49-F238E27FC236}">
                <a16:creationId xmlns:a16="http://schemas.microsoft.com/office/drawing/2014/main" id="{6AF3B627-B008-9C00-AF48-3F0F91F319D8}"/>
              </a:ext>
            </a:extLst>
          </p:cNvPr>
          <p:cNvSpPr txBox="1">
            <a:spLocks/>
          </p:cNvSpPr>
          <p:nvPr/>
        </p:nvSpPr>
        <p:spPr>
          <a:xfrm>
            <a:off x="523001" y="27475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56" name="Title 3">
            <a:extLst>
              <a:ext uri="{FF2B5EF4-FFF2-40B4-BE49-F238E27FC236}">
                <a16:creationId xmlns:a16="http://schemas.microsoft.com/office/drawing/2014/main" id="{E81794FC-2EDD-FD8F-474A-2BC809E48C4B}"/>
              </a:ext>
            </a:extLst>
          </p:cNvPr>
          <p:cNvSpPr txBox="1">
            <a:spLocks/>
          </p:cNvSpPr>
          <p:nvPr/>
        </p:nvSpPr>
        <p:spPr>
          <a:xfrm>
            <a:off x="682900" y="6381551"/>
            <a:ext cx="4771416" cy="424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6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26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  <p:bldP spid="29" grpId="0" animBg="1"/>
      <p:bldP spid="38" grpId="0" animBg="1"/>
      <p:bldP spid="42" grpId="0" animBg="1"/>
      <p:bldP spid="5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EB19-4C10-F0AA-9D06-835B668B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C73216-A6FC-18E6-D972-46F454ED40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2" name="Title 3">
            <a:extLst>
              <a:ext uri="{FF2B5EF4-FFF2-40B4-BE49-F238E27FC236}">
                <a16:creationId xmlns:a16="http://schemas.microsoft.com/office/drawing/2014/main" id="{508D3280-F133-B514-9F62-5D4B8911CEC4}"/>
              </a:ext>
            </a:extLst>
          </p:cNvPr>
          <p:cNvSpPr txBox="1">
            <a:spLocks/>
          </p:cNvSpPr>
          <p:nvPr/>
        </p:nvSpPr>
        <p:spPr>
          <a:xfrm>
            <a:off x="523001" y="274759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38689C0C-C6C7-08D7-20BE-4D520F65232A}"/>
              </a:ext>
            </a:extLst>
          </p:cNvPr>
          <p:cNvSpPr/>
          <p:nvPr/>
        </p:nvSpPr>
        <p:spPr>
          <a:xfrm>
            <a:off x="661627" y="1059962"/>
            <a:ext cx="10868745" cy="46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5. Present Price vs. Selling Price</a:t>
            </a:r>
            <a:endParaRPr lang="en-US" sz="29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61297253-ECC8-6EB0-5102-5D58BA2E114B}"/>
              </a:ext>
            </a:extLst>
          </p:cNvPr>
          <p:cNvSpPr/>
          <p:nvPr/>
        </p:nvSpPr>
        <p:spPr>
          <a:xfrm>
            <a:off x="731993" y="1697712"/>
            <a:ext cx="4682663" cy="25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Insights</a:t>
            </a:r>
            <a:endParaRPr lang="en-US" sz="145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3362A4D-EDD3-720F-1FA4-C17A1968D1C2}"/>
              </a:ext>
            </a:extLst>
          </p:cNvPr>
          <p:cNvSpPr/>
          <p:nvPr/>
        </p:nvSpPr>
        <p:spPr>
          <a:xfrm>
            <a:off x="731993" y="2082883"/>
            <a:ext cx="4682663" cy="1842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scatter plot helps identify the relationship and trend between Present Price and Selling Price in the dataset.</a:t>
            </a:r>
            <a:endParaRPr lang="en-US" sz="1100" dirty="0"/>
          </a:p>
          <a:p>
            <a:pPr marL="0" indent="0" algn="l">
              <a:lnSpc>
                <a:spcPct val="124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Examine whether cars with higher present prices tend to have higher selling prices.</a:t>
            </a:r>
            <a:endParaRPr lang="en-US" sz="11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analysis of the distribution and correlation pattern between these two variables would provide insights into how a car's current market value influences its resale value.</a:t>
            </a:r>
            <a:endParaRPr lang="en-US" sz="11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BAB96838-373C-4D86-9D54-13B759A400A0}"/>
              </a:ext>
            </a:extLst>
          </p:cNvPr>
          <p:cNvSpPr/>
          <p:nvPr/>
        </p:nvSpPr>
        <p:spPr>
          <a:xfrm>
            <a:off x="731993" y="4112857"/>
            <a:ext cx="4682663" cy="20651"/>
          </a:xfrm>
          <a:prstGeom prst="roundRect">
            <a:avLst>
              <a:gd name="adj" fmla="val 49999"/>
            </a:avLst>
          </a:prstGeom>
          <a:solidFill>
            <a:srgbClr val="383838">
              <a:alpha val="50000"/>
            </a:srgbClr>
          </a:solidFill>
          <a:ln/>
        </p:spPr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8C9A0B56-F557-29AB-5951-1841E085A945}"/>
              </a:ext>
            </a:extLst>
          </p:cNvPr>
          <p:cNvSpPr/>
          <p:nvPr/>
        </p:nvSpPr>
        <p:spPr>
          <a:xfrm>
            <a:off x="731993" y="4320878"/>
            <a:ext cx="4682663" cy="1002778"/>
          </a:xfrm>
          <a:prstGeom prst="roundRect">
            <a:avLst>
              <a:gd name="adj" fmla="val 2305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</p:sp>
      <p:pic>
        <p:nvPicPr>
          <p:cNvPr id="45" name="Image 1" descr="preencoded.png">
            <a:extLst>
              <a:ext uri="{FF2B5EF4-FFF2-40B4-BE49-F238E27FC236}">
                <a16:creationId xmlns:a16="http://schemas.microsoft.com/office/drawing/2014/main" id="{3C615431-744A-3D5F-DC80-984F9A08C39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92714" y="4522229"/>
            <a:ext cx="200900" cy="154025"/>
          </a:xfrm>
          <a:prstGeom prst="rect">
            <a:avLst/>
          </a:prstGeom>
        </p:spPr>
      </p:pic>
      <p:sp>
        <p:nvSpPr>
          <p:cNvPr id="48" name="Text 8">
            <a:extLst>
              <a:ext uri="{FF2B5EF4-FFF2-40B4-BE49-F238E27FC236}">
                <a16:creationId xmlns:a16="http://schemas.microsoft.com/office/drawing/2014/main" id="{ADE16BF1-A9FC-FB62-6EDA-4BE348AA21C8}"/>
              </a:ext>
            </a:extLst>
          </p:cNvPr>
          <p:cNvSpPr/>
          <p:nvPr/>
        </p:nvSpPr>
        <p:spPr>
          <a:xfrm>
            <a:off x="1254333" y="4478452"/>
            <a:ext cx="3999602" cy="687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focuses on the visual relationship. No specific numerical correlation or causal claims are made without supporting data.</a:t>
            </a:r>
            <a:endParaRPr lang="en-US" sz="1100" dirty="0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40AC0B68-8C19-EBF6-0D85-4866A92A472C}"/>
              </a:ext>
            </a:extLst>
          </p:cNvPr>
          <p:cNvSpPr/>
          <p:nvPr/>
        </p:nvSpPr>
        <p:spPr>
          <a:xfrm>
            <a:off x="731993" y="5536830"/>
            <a:ext cx="638258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scatter plot above would display individual car data points to visualize the relationship between Present Price and Selling Price.</a:t>
            </a:r>
            <a:endParaRPr lang="en-US" sz="11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6757444-9512-6C17-EA5E-921618CCC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498" y="1526290"/>
            <a:ext cx="6375214" cy="3995412"/>
          </a:xfrm>
          <a:prstGeom prst="rect">
            <a:avLst/>
          </a:prstGeom>
        </p:spPr>
      </p:pic>
      <p:sp>
        <p:nvSpPr>
          <p:cNvPr id="56" name="Title 3">
            <a:extLst>
              <a:ext uri="{FF2B5EF4-FFF2-40B4-BE49-F238E27FC236}">
                <a16:creationId xmlns:a16="http://schemas.microsoft.com/office/drawing/2014/main" id="{61934B75-D4C1-FC75-5ECF-A6B510C5C6C2}"/>
              </a:ext>
            </a:extLst>
          </p:cNvPr>
          <p:cNvSpPr txBox="1">
            <a:spLocks/>
          </p:cNvSpPr>
          <p:nvPr/>
        </p:nvSpPr>
        <p:spPr>
          <a:xfrm>
            <a:off x="682900" y="6381551"/>
            <a:ext cx="4771416" cy="4243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u="sng" dirty="0">
                <a:solidFill>
                  <a:srgbClr val="0070C0"/>
                </a:solidFill>
              </a:rPr>
              <a:t> : </a:t>
            </a:r>
            <a:r>
              <a:rPr lang="en-GB" sz="2000" b="0" u="sng" dirty="0">
                <a:solidFill>
                  <a:srgbClr val="0070C0"/>
                </a:solidFill>
                <a:hlinkClick r:id="rId6"/>
              </a:rPr>
              <a:t>Click Here</a:t>
            </a:r>
            <a:endParaRPr lang="en-IN" b="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33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5" grpId="0" animBg="1"/>
      <p:bldP spid="35" grpId="0" animBg="1"/>
      <p:bldP spid="37" grpId="0" animBg="1"/>
      <p:bldP spid="48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5" name="Picture 4" descr="Thank you text blue background Images - Free Download on Magnific (formerly  Freepik)">
            <a:extLst>
              <a:ext uri="{FF2B5EF4-FFF2-40B4-BE49-F238E27FC236}">
                <a16:creationId xmlns:a16="http://schemas.microsoft.com/office/drawing/2014/main" id="{D3106F57-CD45-ACD0-874D-2A51D9B51F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4" t="10512" r="10848" b="9014"/>
          <a:stretch>
            <a:fillRect/>
          </a:stretch>
        </p:blipFill>
        <p:spPr>
          <a:xfrm>
            <a:off x="2390278" y="681789"/>
            <a:ext cx="5479195" cy="55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</TotalTime>
  <Words>961</Words>
  <Application>Microsoft Office PowerPoint</Application>
  <PresentationFormat>Widescreen</PresentationFormat>
  <Paragraphs>139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DM Sans</vt:lpstr>
      <vt:lpstr>DM Sans Bold</vt:lpstr>
      <vt:lpstr>PT Serif</vt:lpstr>
      <vt:lpstr>Trebuchet MS</vt:lpstr>
      <vt:lpstr>Wingdings</vt:lpstr>
      <vt:lpstr>Wingdings 3</vt:lpstr>
      <vt:lpstr>Facet</vt:lpstr>
      <vt:lpstr>CAR DEKHO DATA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Atharva Deshpande</cp:lastModifiedBy>
  <cp:revision>75</cp:revision>
  <dcterms:created xsi:type="dcterms:W3CDTF">2021-07-11T13:13:15Z</dcterms:created>
  <dcterms:modified xsi:type="dcterms:W3CDTF">2026-08-30T06:41:58Z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